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ều Trịnh" userId="b5e8dd2f7e2de3fe" providerId="LiveId" clId="{093AEDAC-1BDE-401D-83A2-FC1A90DFFFD4}"/>
    <pc:docChg chg="modSld">
      <pc:chgData name="Kiều Trịnh" userId="b5e8dd2f7e2de3fe" providerId="LiveId" clId="{093AEDAC-1BDE-401D-83A2-FC1A90DFFFD4}" dt="2026-10-14T22:41:18.892" v="2" actId="14100"/>
      <pc:docMkLst>
        <pc:docMk/>
      </pc:docMkLst>
      <pc:sldChg chg="addSp modSp mod">
        <pc:chgData name="Kiều Trịnh" userId="b5e8dd2f7e2de3fe" providerId="LiveId" clId="{093AEDAC-1BDE-401D-83A2-FC1A90DFFFD4}" dt="2026-10-14T22:41:18.892" v="2" actId="14100"/>
        <pc:sldMkLst>
          <pc:docMk/>
          <pc:sldMk cId="2869938210" sldId="260"/>
        </pc:sldMkLst>
        <pc:spChg chg="add mod">
          <ac:chgData name="Kiều Trịnh" userId="b5e8dd2f7e2de3fe" providerId="LiveId" clId="{093AEDAC-1BDE-401D-83A2-FC1A90DFFFD4}" dt="2026-10-14T22:41:18.892" v="2" actId="14100"/>
          <ac:spMkLst>
            <pc:docMk/>
            <pc:sldMk cId="2869938210" sldId="260"/>
            <ac:spMk id="5" creationId="{BA23441D-4984-BA9E-EF61-27D908E063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9C554-DEAC-8E39-1727-69CF55634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94124-261A-32A5-A8BD-6D1A08F44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78DD-DB01-1FC4-EB81-E9A2DC4D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BBEB-BE48-E19A-4E69-671B57EA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2CE4F-58D3-84EC-081E-B847396B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2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BE780-8422-89F6-770B-24CD6456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3ED8-0BB5-A840-6B05-7D177F91A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896D-B93C-CB9F-55C0-FA58D3B4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E378F-60CB-1C21-9A38-10F12E85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708D2-F873-D9B0-4D00-01DD8B9F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1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07F5-7866-0DBB-34D2-67AC0CB5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53743-FA7D-894A-B71F-887503DA9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223ED-2720-AC26-05BC-2B9DB924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37DC4-C028-5C20-991F-108A9F3A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08AC-B5AC-760E-0C23-40549768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8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6790-F2A0-D7AB-DB8D-300E0695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BE48-00D7-73D9-FB9A-B98831FD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22EA5-0C3D-C804-0CFB-01DF749D4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CA535-B098-8F26-51B7-7C20531D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08132-B9D3-D0E5-3821-A403C23C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C9F04-E32B-D724-AAFE-C0F6BBB6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D351-41D0-B4DB-3539-B81A007B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154A2-577A-CE29-15DD-A2610987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DD9B5-0A2E-B92D-10BF-85BB59050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98E67-E53F-4647-0148-D34A7FE21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89B15-939D-2203-7870-0012CB8F2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F1F9B-726F-5C3A-703E-67E16BED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1E3E2-A8F3-22C7-4390-FE085FF5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22544C-7FC1-390E-6D8E-D126E881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7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1B3B-D5C0-79AB-83CF-9D59DD7D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BFC85-6F1E-918C-45DA-C2ACC7B4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CA74D-BADE-038B-5AC5-6B4B70A3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92640-5A7B-9E2B-D0C0-E383EEE3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6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44B93-1DE7-EB0D-5832-1F3AA57D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774A0-E736-F383-1097-55AA21FA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F8238-18D2-1B56-45DF-8E840760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3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FD41-CC31-2AFD-7760-B5212B81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452E-635B-1CB2-1620-E10B29F3E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F5273-CBD7-3D2C-3A8E-DC440E1C6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6EC9D-AB31-7C19-B15C-CEEB743B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0A315-22F6-907E-11C7-757662999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90978-C0C5-31F2-6892-841BBF3F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7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3928-C22D-64F8-4C7E-80A15BDD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2C00C-A549-7521-07CD-C449668B46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C4034-B03E-72D5-B5D5-DCE7247E8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D25D1-EF4A-2F83-E8D0-AD8816D7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4778E-04F3-6E0C-9627-5096E60F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0C086-3BA6-54EB-B3AB-5CF04C41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2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7F67-C05B-7831-B949-117F70F9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F4107-C061-6F9A-3F64-7E44A4DDD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B17FD-4DEF-F070-E2E6-E4FBD4E77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0CB31-23CB-CC77-E42E-F35D0D8D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3CB3-1184-2192-2DFB-1C1C7A9D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5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DB64D-7C30-6319-34DE-2E39B6A3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5F900-D890-790E-E886-484C2F15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4236-ED17-9664-69E3-AAAEC7C7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956B-9FC8-F651-5906-36A0AD9A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2900B-A09D-83ED-7D72-DD211EA1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2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22A4F-73D9-7A13-23D5-97820111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53F4A-C5C9-3E28-D408-1EA8CC7E8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6A41F-3466-1394-E981-A8B11057D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69D9E-3337-4432-A291-286BC58A998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CC454-DA33-3CBB-6CB2-092B45C26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1BEBB-4C09-4550-F98F-7F8900250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0CFAF-2542-4CE4-AE6B-03D1B5A4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9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4CCF-B5E1-0D46-DAAC-17A468353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AE4B7-E065-EFA2-1E3A-2D5698C47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84913-A745-4D45-DDB5-78FCF7625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633" y="2861067"/>
            <a:ext cx="5937682" cy="3036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A28D8-D722-BAC3-8C3F-F675A6A7A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1" y="1404214"/>
            <a:ext cx="5251224" cy="370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4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am VLSI">
            <a:extLst>
              <a:ext uri="{FF2B5EF4-FFF2-40B4-BE49-F238E27FC236}">
                <a16:creationId xmlns:a16="http://schemas.microsoft.com/office/drawing/2014/main" id="{145D903B-1DA4-B62A-98CD-61206666C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943" y="145984"/>
            <a:ext cx="5584851" cy="28211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E9C10A-D0C3-1A95-AE74-E71E772DD49D}"/>
              </a:ext>
            </a:extLst>
          </p:cNvPr>
          <p:cNvSpPr txBox="1"/>
          <p:nvPr/>
        </p:nvSpPr>
        <p:spPr>
          <a:xfrm>
            <a:off x="424543" y="17886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NMOS: Gate = 1 → thường bật khi \(V_{GS}&gt;V_{TH}\).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PMOS: Gate = 0 → thường bật khi \(V_{SG}&gt;|V_{TH}|\).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3E5EC-49D4-9E9E-D1B0-79E27C1E5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954486" cy="295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9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E5378B-3A24-9078-BBFF-BCA6A0D377E2}"/>
              </a:ext>
            </a:extLst>
          </p:cNvPr>
          <p:cNvSpPr/>
          <p:nvPr/>
        </p:nvSpPr>
        <p:spPr>
          <a:xfrm>
            <a:off x="315686" y="976267"/>
            <a:ext cx="3385458" cy="33745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52858-8D23-C045-1F7F-F0C1F38C25F7}"/>
              </a:ext>
            </a:extLst>
          </p:cNvPr>
          <p:cNvSpPr txBox="1"/>
          <p:nvPr/>
        </p:nvSpPr>
        <p:spPr>
          <a:xfrm>
            <a:off x="315686" y="1886593"/>
            <a:ext cx="3189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Connects substrate and n-well to VSS/VDD to prevent latch-up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B5FC1-E96F-A4D2-A2A1-15EC6118E841}"/>
              </a:ext>
            </a:extLst>
          </p:cNvPr>
          <p:cNvSpPr txBox="1"/>
          <p:nvPr/>
        </p:nvSpPr>
        <p:spPr>
          <a:xfrm>
            <a:off x="315686" y="3211048"/>
            <a:ext cx="3287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Regularly spaced across standard-cell rows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C0C5B7-0257-93D8-720B-544641D1E5B2}"/>
              </a:ext>
            </a:extLst>
          </p:cNvPr>
          <p:cNvSpPr/>
          <p:nvPr/>
        </p:nvSpPr>
        <p:spPr>
          <a:xfrm>
            <a:off x="4109358" y="987153"/>
            <a:ext cx="3494314" cy="31459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6AC32-8531-A817-CF8B-8DD6AB967AF4}"/>
              </a:ext>
            </a:extLst>
          </p:cNvPr>
          <p:cNvSpPr txBox="1"/>
          <p:nvPr/>
        </p:nvSpPr>
        <p:spPr>
          <a:xfrm>
            <a:off x="4109358" y="1420544"/>
            <a:ext cx="3701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Terminates rows and protects row boundaries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A8313-2CD4-7EEF-3D1E-D6460B1586F5}"/>
              </a:ext>
            </a:extLst>
          </p:cNvPr>
          <p:cNvSpPr txBox="1"/>
          <p:nvPr/>
        </p:nvSpPr>
        <p:spPr>
          <a:xfrm>
            <a:off x="4223658" y="27764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Beginning and end of each row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A293D3-7775-AA0C-1A2C-BD4824057617}"/>
              </a:ext>
            </a:extLst>
          </p:cNvPr>
          <p:cNvSpPr/>
          <p:nvPr/>
        </p:nvSpPr>
        <p:spPr>
          <a:xfrm>
            <a:off x="8022772" y="976267"/>
            <a:ext cx="3701143" cy="315685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11EA8-A593-C6E3-D43B-EF13945D9CC7}"/>
              </a:ext>
            </a:extLst>
          </p:cNvPr>
          <p:cNvSpPr txBox="1"/>
          <p:nvPr/>
        </p:nvSpPr>
        <p:spPr>
          <a:xfrm>
            <a:off x="8011886" y="1420544"/>
            <a:ext cx="3603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Connects unused inputs to VDD or VSS safely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DD46D7-EE46-E8BD-16CA-89190880ECE8}"/>
              </a:ext>
            </a:extLst>
          </p:cNvPr>
          <p:cNvSpPr txBox="1"/>
          <p:nvPr/>
        </p:nvSpPr>
        <p:spPr>
          <a:xfrm>
            <a:off x="7916635" y="25917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Near cells requiring tie-high/tie-low</a:t>
            </a:r>
          </a:p>
        </p:txBody>
      </p:sp>
      <p:pic>
        <p:nvPicPr>
          <p:cNvPr id="18" name="Picture 17" descr="Team VLSI">
            <a:extLst>
              <a:ext uri="{FF2B5EF4-FFF2-40B4-BE49-F238E27FC236}">
                <a16:creationId xmlns:a16="http://schemas.microsoft.com/office/drawing/2014/main" id="{ED1C1CE5-1A73-E70C-CEDB-5EB406C2C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617" y="4350838"/>
            <a:ext cx="4459452" cy="22526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CF8A42-1AA3-DF64-3B77-E26600431653}"/>
              </a:ext>
            </a:extLst>
          </p:cNvPr>
          <p:cNvSpPr txBox="1"/>
          <p:nvPr/>
        </p:nvSpPr>
        <p:spPr>
          <a:xfrm>
            <a:off x="315686" y="4751725"/>
            <a:ext cx="703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Floorplan:</a:t>
            </a:r>
            <a:r>
              <a:rPr lang="en-US"/>
              <a:t> insert endcaps, taps, and power switches.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9AA47-4593-E30F-5A41-16C5348B9824}"/>
              </a:ext>
            </a:extLst>
          </p:cNvPr>
          <p:cNvSpPr txBox="1"/>
          <p:nvPr/>
        </p:nvSpPr>
        <p:spPr>
          <a:xfrm>
            <a:off x="182337" y="5235945"/>
            <a:ext cx="70376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Placement:</a:t>
            </a:r>
            <a:r>
              <a:rPr lang="en-US"/>
              <a:t> insert tap and decap cells according to foundry spacing rules.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Post-placement optimization:</a:t>
            </a:r>
            <a:r>
              <a:rPr lang="en-US"/>
              <a:t> insert fillers, tie cells, and antenna diodes.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Routing/ECO:</a:t>
            </a:r>
            <a:r>
              <a:rPr lang="en-US"/>
              <a:t> use spare or ECO cells for late functional fixes.</a:t>
            </a:r>
          </a:p>
        </p:txBody>
      </p:sp>
    </p:spTree>
    <p:extLst>
      <p:ext uri="{BB962C8B-B14F-4D97-AF65-F5344CB8AC3E}">
        <p14:creationId xmlns:p14="http://schemas.microsoft.com/office/powerpoint/2010/main" val="291184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A64CD9-3FCF-021F-CC73-1BD08E5D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693" y="1709057"/>
            <a:ext cx="4746307" cy="2452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221369-BE61-CC71-8554-43B9E6A9FDF3}"/>
              </a:ext>
            </a:extLst>
          </p:cNvPr>
          <p:cNvSpPr txBox="1"/>
          <p:nvPr/>
        </p:nvSpPr>
        <p:spPr>
          <a:xfrm>
            <a:off x="337457" y="2090057"/>
            <a:ext cx="6433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Cách đặt tap cell -&gt; kiểu bàn cờ, đặt theo chu kỳ from foudry 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98EED-81BE-1F01-6E31-A7B665F8C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9" y="3104845"/>
            <a:ext cx="6433171" cy="3099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8BB46D-4D79-5FE4-A21E-C62AE7F9B656}"/>
              </a:ext>
            </a:extLst>
          </p:cNvPr>
          <p:cNvSpPr txBox="1"/>
          <p:nvPr/>
        </p:nvSpPr>
        <p:spPr>
          <a:xfrm>
            <a:off x="674628" y="6538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90 µm trong hình là độ lệch theo phương ngang giữa hai mẫu đặt tap;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7C8DDE-D166-DA9E-6E97-D86F0E159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723" y="3294052"/>
            <a:ext cx="4217288" cy="24523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AD42BE-A5B8-7CB2-A5D6-C3A2A79BC62F}"/>
              </a:ext>
            </a:extLst>
          </p:cNvPr>
          <p:cNvSpPr txBox="1"/>
          <p:nvPr/>
        </p:nvSpPr>
        <p:spPr>
          <a:xfrm>
            <a:off x="2002971" y="1643743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Ô đảo ngược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3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C5699-E973-A8F1-C9DD-505BF29F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9" y="2328709"/>
            <a:ext cx="8611802" cy="2200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23441D-4984-BA9E-EF61-27D908E063B2}"/>
              </a:ext>
            </a:extLst>
          </p:cNvPr>
          <p:cNvSpPr txBox="1"/>
          <p:nvPr/>
        </p:nvSpPr>
        <p:spPr>
          <a:xfrm>
            <a:off x="990599" y="855506"/>
            <a:ext cx="8349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</a:t>
            </a:r>
            <a:r>
              <a:rPr lang="en-US" b="1"/>
              <a:t>decap</a:t>
            </a:r>
            <a:r>
              <a:rPr lang="en-US"/>
              <a:t> cell, short for decoupling capacitor cell, provides local capacitance between VDD and VSS to help stabilize the power supply.</a:t>
            </a:r>
          </a:p>
        </p:txBody>
      </p:sp>
    </p:spTree>
    <p:extLst>
      <p:ext uri="{BB962C8B-B14F-4D97-AF65-F5344CB8AC3E}">
        <p14:creationId xmlns:p14="http://schemas.microsoft.com/office/powerpoint/2010/main" val="286993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Kiều Trịnh</dc:creator>
  <cp:lastModifiedBy>Kiều Trịnh</cp:lastModifiedBy>
  <cp:revision>1</cp:revision>
  <dcterms:created xsi:type="dcterms:W3CDTF">2026-10-14T22:06:14Z</dcterms:created>
  <dcterms:modified xsi:type="dcterms:W3CDTF">2026-10-14T22:41:25Z</dcterms:modified>
</cp:coreProperties>
</file>